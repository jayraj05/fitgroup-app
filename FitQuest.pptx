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5"/>
  </p:notesMasterIdLst>
  <p:sldIdLst>
    <p:sldId id="2767" r:id="rId5"/>
    <p:sldId id="257" r:id="rId6"/>
    <p:sldId id="2768" r:id="rId7"/>
    <p:sldId id="258" r:id="rId8"/>
    <p:sldId id="260" r:id="rId9"/>
    <p:sldId id="261" r:id="rId10"/>
    <p:sldId id="263" r:id="rId11"/>
    <p:sldId id="264" r:id="rId12"/>
    <p:sldId id="270" r:id="rId13"/>
    <p:sldId id="2775" r:id="rId14"/>
    <p:sldId id="265" r:id="rId15"/>
    <p:sldId id="268" r:id="rId16"/>
    <p:sldId id="266" r:id="rId17"/>
    <p:sldId id="2769" r:id="rId18"/>
    <p:sldId id="2770" r:id="rId19"/>
    <p:sldId id="2771" r:id="rId20"/>
    <p:sldId id="2772" r:id="rId21"/>
    <p:sldId id="2773" r:id="rId22"/>
    <p:sldId id="267" r:id="rId23"/>
    <p:sldId id="27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B5BF7-7067-4413-B84E-198147693784}" v="654" dt="2026-02-02T19:55:51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24"/>
    <p:restoredTop sz="94695"/>
  </p:normalViewPr>
  <p:slideViewPr>
    <p:cSldViewPr snapToGrid="0">
      <p:cViewPr>
        <p:scale>
          <a:sx n="100" d="100"/>
          <a:sy n="100" d="100"/>
        </p:scale>
        <p:origin x="-7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szkola.pl/category/spotkania-i-szkolenia/webinary-dla-uczniow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ndrejgajdos.com/how-to-hire-a-freelance-front-end-developer/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johnsamuel.info/fr/enseignement/cours/2018/ArchitectureSystemeInformation/cours2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database-png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luengo.blogspot.com/2017/01/amenazas-de-comportamientos-suicidas.html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orethaneoi.blogspot.com/2014/06/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728" y="-892601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FitQuest</a:t>
            </a:r>
            <a:endParaRPr lang="en-US" dirty="0" err="1">
              <a:latin typeface="Neue Haas Grotesk Text Pro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3395" y="4606056"/>
            <a:ext cx="8094361" cy="2049091"/>
          </a:xfrm>
        </p:spPr>
        <p:txBody>
          <a:bodyPr anchor="t">
            <a:normAutofit fontScale="92500" lnSpcReduction="20000"/>
          </a:bodyPr>
          <a:lstStyle/>
          <a:p>
            <a:r>
              <a:rPr lang="en-US" dirty="0"/>
              <a:t>Presented by 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Jayraj Gajul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Sagar Sonkamble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Tanmay Kaldate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Hemanshu Kulkarni</a:t>
            </a:r>
            <a:endParaRPr lang="en-US" dirty="0"/>
          </a:p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dirty="0">
                <a:ea typeface="+mn-lt"/>
                <a:cs typeface="+mn-lt"/>
              </a:rPr>
              <a:t>FitQuest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81FB8D7-B1C9-1FEB-87D7-E642942AC062}"/>
              </a:ext>
            </a:extLst>
          </p:cNvPr>
          <p:cNvSpPr txBox="1">
            <a:spLocks/>
          </p:cNvSpPr>
          <p:nvPr/>
        </p:nvSpPr>
        <p:spPr>
          <a:xfrm>
            <a:off x="371907" y="2162012"/>
            <a:ext cx="8094361" cy="20490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Gamified Fitness Challenge Platform</a:t>
            </a:r>
            <a:endParaRPr lang="en-US"/>
          </a:p>
          <a:p>
            <a:r>
              <a:rPr lang="en-US" dirty="0"/>
              <a:t>Web Application</a:t>
            </a:r>
            <a:br>
              <a:rPr lang="en-US" dirty="0"/>
            </a:br>
            <a:r>
              <a:rPr lang="en-US" dirty="0"/>
              <a:t>React.js | Spring Boot | REST APIs | MySQL</a:t>
            </a: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PROBLEM STATEMENT</a:t>
            </a:r>
            <a:endParaRPr lang="en-US">
              <a:latin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56342" y="2423160"/>
            <a:ext cx="4519378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Most fitness applications only track workouts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Users lose motivation and consistency over time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social competition or group engagement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Lack of gamification such as streaks and rewards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 descr="Fitness Mobile App Design Inspiration | Mobile app design inspiration ...">
            <a:extLst>
              <a:ext uri="{FF2B5EF4-FFF2-40B4-BE49-F238E27FC236}">
                <a16:creationId xmlns:a16="http://schemas.microsoft.com/office/drawing/2014/main" id="{C8E14FED-86A9-F0C7-DEF3-03633E685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952" y="2236692"/>
            <a:ext cx="3520889" cy="390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457E6-3E19-9DFE-46DA-840B4DF2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CCAC-46F2-42F7-E772-D8DFDCD94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025" y="-350983"/>
            <a:ext cx="7685140" cy="2621154"/>
          </a:xfrm>
        </p:spPr>
        <p:txBody>
          <a:bodyPr/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SOLUTION: FITQUEST</a:t>
            </a:r>
            <a:endParaRPr lang="en-US" dirty="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9F7E4-6A3C-BDE0-6572-E7AEEFE85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0790" y="2913969"/>
            <a:ext cx="8794521" cy="39130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Gamified fitness challenge platform</a:t>
            </a:r>
            <a:endParaRPr lang="en-US" sz="3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Personal and group-based challenges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Daily activity check-ins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Streak tracking and reward system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Leaderboards for social competition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139D4-E314-E335-4DE8-523EBFA1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6E4F-8270-497D-A4DE-9B37A9C4BC1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F101-30E4-11BB-7963-65AC15F1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82457-AC67-B66C-F249-001DC4CB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017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Bookman Old Style"/>
                <a:ea typeface="+mj-lt"/>
                <a:cs typeface="+mj-lt"/>
              </a:rPr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72168" y="2120601"/>
            <a:ext cx="7914759" cy="38587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Promote healthy and consistent fitness habits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Increase user motivation using gamification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Enable social interaction and group challenges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Track progress through streaks and leaderboards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Build a scalable and secure full-stack system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D37E-812B-468F-B489-3911FC6F672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  <p:pic>
        <p:nvPicPr>
          <p:cNvPr id="14" name="Picture 13" descr="Free Images : vehicle, training, black, christmas, gym, sports ...">
            <a:extLst>
              <a:ext uri="{FF2B5EF4-FFF2-40B4-BE49-F238E27FC236}">
                <a16:creationId xmlns:a16="http://schemas.microsoft.com/office/drawing/2014/main" id="{901DEE82-3373-8135-5D0C-F29221FCB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93"/>
          <a:stretch>
            <a:fillRect/>
          </a:stretch>
        </p:blipFill>
        <p:spPr>
          <a:xfrm>
            <a:off x="-4271" y="2235574"/>
            <a:ext cx="32204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1907" y="-3601"/>
            <a:ext cx="7685140" cy="2621154"/>
          </a:xfrm>
        </p:spPr>
        <p:txBody>
          <a:bodyPr/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TECH STACK USED</a:t>
            </a:r>
            <a:endParaRPr lang="en-US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848" y="280586"/>
            <a:ext cx="8884168" cy="58067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u="sng" dirty="0">
                <a:ea typeface="+mn-lt"/>
                <a:cs typeface="+mn-lt"/>
              </a:rPr>
              <a:t>Frontend</a:t>
            </a:r>
            <a:endParaRPr lang="en-US" sz="2400" u="sng" dirty="0"/>
          </a:p>
          <a:p>
            <a:r>
              <a:rPr lang="en-US" sz="2400" dirty="0">
                <a:ea typeface="+mn-lt"/>
                <a:cs typeface="+mn-lt"/>
              </a:rPr>
              <a:t>React.js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HTML, CSS, JavaScript</a:t>
            </a:r>
            <a:endParaRPr lang="en-US" sz="2400" dirty="0"/>
          </a:p>
          <a:p>
            <a:r>
              <a:rPr lang="en-US" sz="2400" b="1" u="sng" dirty="0">
                <a:ea typeface="+mn-lt"/>
                <a:cs typeface="+mn-lt"/>
              </a:rPr>
              <a:t>Backend</a:t>
            </a:r>
            <a:endParaRPr lang="en-US" sz="2400" u="sng" dirty="0"/>
          </a:p>
          <a:p>
            <a:r>
              <a:rPr lang="en-US" sz="2400" dirty="0">
                <a:ea typeface="+mn-lt"/>
                <a:cs typeface="+mn-lt"/>
              </a:rPr>
              <a:t>Spring Boot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REST APIs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Hibernate (JPA)</a:t>
            </a:r>
            <a:endParaRPr lang="en-US" sz="2400" dirty="0"/>
          </a:p>
          <a:p>
            <a:r>
              <a:rPr lang="en-US" sz="2400" b="1" u="sng" dirty="0">
                <a:ea typeface="+mn-lt"/>
                <a:cs typeface="+mn-lt"/>
              </a:rPr>
              <a:t>Database</a:t>
            </a:r>
            <a:endParaRPr lang="en-US" sz="2400" u="sng" dirty="0"/>
          </a:p>
          <a:p>
            <a:r>
              <a:rPr lang="en-US" sz="2400" dirty="0">
                <a:ea typeface="+mn-lt"/>
                <a:cs typeface="+mn-lt"/>
              </a:rPr>
              <a:t>MySQL</a:t>
            </a:r>
            <a:endParaRPr lang="en-US" sz="2400" dirty="0"/>
          </a:p>
          <a:p>
            <a:r>
              <a:rPr lang="en-US" sz="2400" b="1" u="sng" dirty="0">
                <a:ea typeface="+mn-lt"/>
                <a:cs typeface="+mn-lt"/>
              </a:rPr>
              <a:t>Security</a:t>
            </a:r>
            <a:endParaRPr lang="en-US" sz="2400" u="sng" dirty="0"/>
          </a:p>
          <a:p>
            <a:r>
              <a:rPr lang="en-US" sz="2400" dirty="0">
                <a:ea typeface="+mn-lt"/>
                <a:cs typeface="+mn-lt"/>
              </a:rPr>
              <a:t>JWT Authentication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 descr="A logo of a brain with a circuit board&#10;&#10;AI-generated content may be incorrect.">
            <a:extLst>
              <a:ext uri="{FF2B5EF4-FFF2-40B4-BE49-F238E27FC236}">
                <a16:creationId xmlns:a16="http://schemas.microsoft.com/office/drawing/2014/main" id="{E75AF86A-F8F4-3F43-4E65-C56602B7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00122" y="2480622"/>
            <a:ext cx="4642196" cy="46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SYSTEM ARCHITECTURE</a:t>
            </a:r>
            <a:endParaRPr lang="en-US">
              <a:latin typeface="Bookman Old Style"/>
            </a:endParaRPr>
          </a:p>
        </p:txBody>
      </p:sp>
      <p:pic>
        <p:nvPicPr>
          <p:cNvPr id="6" name="Picture Placeholder 5" descr="A computer with a keyboard and mouse&#10;&#10;AI-generated content may be incorrect.">
            <a:extLst>
              <a:ext uri="{FF2B5EF4-FFF2-40B4-BE49-F238E27FC236}">
                <a16:creationId xmlns:a16="http://schemas.microsoft.com/office/drawing/2014/main" id="{503626A1-9E15-A048-4FD7-2D14DDE4162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01925" y="1354854"/>
            <a:ext cx="4844052" cy="460959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React frontend (Client-side UI)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Spring Boot backend (REST APIs)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Layered backend architecture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Hibernate ORM for database interaction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MySQL relational database</a:t>
            </a:r>
            <a:endParaRPr lang="en-US" sz="240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D00-6106-43BB-8923-18C7A7C520E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A2F1-CC44-35CF-7A34-1B814A19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Backend Architecture Layers</a:t>
            </a:r>
            <a:endParaRPr lang="en-US">
              <a:latin typeface="Bookman Old Style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164976"/>
            <a:ext cx="6135624" cy="448970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Controller Layer</a:t>
            </a:r>
            <a:endParaRPr lang="en-US" sz="3200" dirty="0"/>
          </a:p>
          <a:p>
            <a:pPr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Service Layer</a:t>
            </a:r>
            <a:endParaRPr lang="en-US" sz="3200" dirty="0"/>
          </a:p>
          <a:p>
            <a:pPr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Repository Layer</a:t>
            </a:r>
            <a:endParaRPr lang="en-US" sz="3200" dirty="0"/>
          </a:p>
          <a:p>
            <a:pPr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Model (Entity) Layer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9" name="Picture Placeholder 8" descr="A close up of words&#10;&#10;AI-generated content may be incorrect.">
            <a:extLst>
              <a:ext uri="{FF2B5EF4-FFF2-40B4-BE49-F238E27FC236}">
                <a16:creationId xmlns:a16="http://schemas.microsoft.com/office/drawing/2014/main" id="{606BD1CA-C191-4496-8931-F725453418B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 rot="5400000">
            <a:off x="6282001" y="1289274"/>
            <a:ext cx="6454626" cy="428004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525" y="420624"/>
            <a:ext cx="10013846" cy="1555198"/>
          </a:xfrm>
        </p:spPr>
        <p:txBody>
          <a:bodyPr>
            <a:normAutofit fontScale="90000"/>
          </a:bodyPr>
          <a:lstStyle/>
          <a:p>
            <a:r>
              <a:rPr lang="en-US" sz="9600" dirty="0">
                <a:latin typeface="Bookman Old Style"/>
                <a:ea typeface="+mj-lt"/>
                <a:cs typeface="+mj-lt"/>
              </a:rPr>
              <a:t>CORE FEATURES</a:t>
            </a:r>
            <a:endParaRPr lang="en-US" dirty="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44086" y="2061075"/>
            <a:ext cx="9190706" cy="44264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User registration and login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Create and join fitness challenges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Daily activity check-ins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Streak tracking system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Leaderboard ranking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Achievement badges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Challenge-level group chat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1039301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DATABASE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2264273"/>
            <a:ext cx="7914087" cy="4214648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Users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Challenges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Challenge Participation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Activities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Badges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User Badges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Chat Messages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90C-0AC8-DB82-0D8F-BF8C4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 descr="A blue cylinder with black lines&#10;&#10;AI-generated content may be incorrect.">
            <a:extLst>
              <a:ext uri="{FF2B5EF4-FFF2-40B4-BE49-F238E27FC236}">
                <a16:creationId xmlns:a16="http://schemas.microsoft.com/office/drawing/2014/main" id="{84387E77-4984-7F00-D070-FAFD1479C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8391" y="1593626"/>
            <a:ext cx="5273189" cy="527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CB9D-4A08-3B9D-5DD2-668BC11A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0C30E-3464-7B5B-AD8C-5562F0F7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2/2/2026</a:t>
            </a:fld>
            <a:endParaRPr lang="en-US" dirty="0"/>
          </a:p>
        </p:txBody>
      </p:sp>
      <p:pic>
        <p:nvPicPr>
          <p:cNvPr id="11" name="Picture 10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D4A400C-AC96-396B-3393-91B977A02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164" y="-11205"/>
            <a:ext cx="7852055" cy="686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71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BUSINESS</a:t>
            </a:r>
            <a:br>
              <a:rPr lang="en-US" dirty="0">
                <a:latin typeface="Bookman Old Style"/>
                <a:ea typeface="+mj-lt"/>
                <a:cs typeface="+mj-lt"/>
              </a:rPr>
            </a:br>
            <a:r>
              <a:rPr lang="en-US" dirty="0">
                <a:latin typeface="Bookman Old Style"/>
                <a:ea typeface="+mj-lt"/>
                <a:cs typeface="+mj-lt"/>
              </a:rPr>
              <a:t> LOGIC</a:t>
            </a:r>
            <a:br>
              <a:rPr lang="en-US" dirty="0">
                <a:latin typeface="Bookman Old Style"/>
                <a:ea typeface="+mj-lt"/>
                <a:cs typeface="+mj-lt"/>
              </a:rPr>
            </a:br>
            <a:r>
              <a:rPr lang="en-US" dirty="0">
                <a:latin typeface="Bookman Old Style"/>
                <a:ea typeface="+mj-lt"/>
                <a:cs typeface="+mj-lt"/>
              </a:rPr>
              <a:t> ENGINE</a:t>
            </a:r>
            <a:endParaRPr lang="en-US" dirty="0">
              <a:latin typeface="Bookman Old Style"/>
            </a:endParaRPr>
          </a:p>
        </p:txBody>
      </p:sp>
      <p:pic>
        <p:nvPicPr>
          <p:cNvPr id="7" name="Picture Placeholder 6" descr="Royalty Free Discipline Stock Photos | rawpixel">
            <a:extLst>
              <a:ext uri="{FF2B5EF4-FFF2-40B4-BE49-F238E27FC236}">
                <a16:creationId xmlns:a16="http://schemas.microsoft.com/office/drawing/2014/main" id="{3C37CE0E-074A-209D-2D43-EC5FAC327C3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/>
          <a:stretch>
            <a:fillRect/>
          </a:stretch>
        </p:blipFill>
        <p:spPr>
          <a:xfrm>
            <a:off x="244415" y="3009206"/>
            <a:ext cx="4176819" cy="278802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1957" y="549275"/>
            <a:ext cx="7466910" cy="578815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Streak Calculation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Tracks user consistency by increasing streaks on consecutive daily activity completion and resetting streaks when a day is missed.</a:t>
            </a:r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Score Computation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Points are calculated using rule-based logic combining streak length and total activities to reward consistency.</a:t>
            </a:r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Leaderboard Ranking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Users are ranked dynamically based on computed scores to encourage healthy competition.</a:t>
            </a:r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Automated Challenge Completion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Challenges are automatically marked as completed when users meet goals or when the challenge duration ends</a:t>
            </a: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179B-16F5-B0EA-D1AC-9944121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628657" cy="1828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dirty="0">
                <a:latin typeface="Bookman Old Style"/>
                <a:ea typeface="+mj-lt"/>
                <a:cs typeface="+mj-lt"/>
              </a:rPr>
              <a:t>SECURITY  IMPLEMENTATION</a:t>
            </a:r>
            <a:endParaRPr lang="en-US" sz="5400">
              <a:latin typeface="Bookman Old Style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0196" y="1717192"/>
            <a:ext cx="6334728" cy="27157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RESTful API architecture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Clear and meaningful endpoints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JSON-based request and response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Uses HTTP methods (GET, POST)</a:t>
            </a:r>
            <a:endParaRPr lang="en-US"/>
          </a:p>
          <a:p>
            <a:pPr indent="0">
              <a:buNone/>
            </a:pPr>
            <a:endParaRPr lang="en-US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AFF9-B37A-4509-BBAB-27DBFDFA26B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DC08D-8457-0839-8C25-A7C068F9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23E7AA8-0D5B-0C84-0B55-93BC3732611A}"/>
              </a:ext>
            </a:extLst>
          </p:cNvPr>
          <p:cNvSpPr txBox="1">
            <a:spLocks/>
          </p:cNvSpPr>
          <p:nvPr/>
        </p:nvSpPr>
        <p:spPr>
          <a:xfrm>
            <a:off x="7265626" y="1712710"/>
            <a:ext cx="6334728" cy="2715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lphaLcPeriod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romanLcPeriod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arenR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lphaLcParenR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sz="2400" b="1" baseline="0" dirty="0">
                <a:solidFill>
                  <a:srgbClr val="131313"/>
                </a:solidFill>
                <a:latin typeface="Neue Haas Grotesk Text Pro"/>
                <a:ea typeface="Segoe UI"/>
                <a:cs typeface="Segoe UI"/>
              </a:rPr>
              <a:t>Examples:</a:t>
            </a:r>
            <a:r>
              <a:rPr lang="en-US" sz="2400" dirty="0">
                <a:solidFill>
                  <a:srgbClr val="131313"/>
                </a:solidFill>
                <a:latin typeface="Neue Haas Grotesk Text Pro"/>
                <a:ea typeface="Segoe UI"/>
                <a:cs typeface="Segoe UI"/>
              </a:rPr>
              <a:t>​</a:t>
            </a:r>
          </a:p>
          <a:p>
            <a:pPr marL="228600" lvl="0" indent="-228600" rtl="0">
              <a:buFont typeface=""/>
              <a:buAutoNum type="arabicPeriod"/>
            </a:pPr>
            <a:r>
              <a:rPr lang="en-US" sz="2400" baseline="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/auth/login</a:t>
            </a:r>
            <a:r>
              <a:rPr lang="en-US" sz="240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AutoNum type="arabicPeriod"/>
            </a:pPr>
            <a:r>
              <a:rPr lang="en-US" sz="2400" baseline="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/challenges</a:t>
            </a:r>
            <a:r>
              <a:rPr lang="en-US" sz="240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AutoNum type="arabicPeriod"/>
            </a:pPr>
            <a:r>
              <a:rPr lang="en-US" sz="2400" baseline="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/activities/checkin</a:t>
            </a:r>
            <a:r>
              <a:rPr lang="en-US" sz="240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AutoNum type="arabicPeriod"/>
            </a:pPr>
            <a:r>
              <a:rPr lang="en-US" sz="2400" baseline="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/leaderboard</a:t>
            </a:r>
            <a:r>
              <a:rPr lang="en-US" sz="240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AutoNum type="arabicPeriod"/>
            </a:pPr>
            <a:r>
              <a:rPr lang="en-US" sz="2400" baseline="0" dirty="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/chat</a:t>
            </a:r>
            <a:r>
              <a:rPr lang="en-US" sz="2400">
                <a:solidFill>
                  <a:srgbClr val="131313"/>
                </a:solidFill>
                <a:latin typeface="Consolas"/>
                <a:ea typeface="Arial"/>
                <a:cs typeface="Arial"/>
              </a:rPr>
              <a:t>​</a:t>
            </a:r>
            <a:r>
              <a:rPr lang="en-US" sz="2400">
                <a:solidFill>
                  <a:srgbClr val="131313"/>
                </a:solidFill>
                <a:latin typeface="Neue Haas Grotesk Text Pro"/>
                <a:ea typeface="Arial"/>
                <a:cs typeface="Segoe UI"/>
              </a:rPr>
              <a:t>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8640" y="240855"/>
            <a:ext cx="9481163" cy="2001909"/>
          </a:xfrm>
        </p:spPr>
        <p:txBody>
          <a:bodyPr>
            <a:normAutofit/>
          </a:bodyPr>
          <a:lstStyle/>
          <a:p>
            <a:r>
              <a:rPr lang="en-US" b="0" dirty="0">
                <a:latin typeface="Bookman Old Style"/>
                <a:ea typeface="+mn-lt"/>
                <a:cs typeface="+mn-lt"/>
              </a:rPr>
              <a:t>LOGIN &amp; AUTHENTICATION</a:t>
            </a:r>
            <a:endParaRPr lang="en-US">
              <a:latin typeface="Bookman Old Style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41BF0-B686-A29F-997F-508B0252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5E90F-DD16-4D07-98B2-5ADD02240C4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0EF4-0955-7408-3882-4FDCAF3F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22B586-0AA1-571C-E129-994FDE2CF033}"/>
              </a:ext>
            </a:extLst>
          </p:cNvPr>
          <p:cNvSpPr txBox="1"/>
          <p:nvPr/>
        </p:nvSpPr>
        <p:spPr>
          <a:xfrm>
            <a:off x="525649" y="2909769"/>
            <a:ext cx="1059757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600" dirty="0">
                <a:ea typeface="+mn-lt"/>
                <a:cs typeface="+mn-lt"/>
              </a:rPr>
              <a:t>Secure login interface for registered users</a:t>
            </a: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ea typeface="+mn-lt"/>
                <a:cs typeface="+mn-lt"/>
              </a:rPr>
              <a:t>User credentials validated using backend APIs</a:t>
            </a: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ea typeface="+mn-lt"/>
                <a:cs typeface="+mn-lt"/>
              </a:rPr>
              <a:t>JWT token generated after successful login</a:t>
            </a: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ea typeface="+mn-lt"/>
                <a:cs typeface="+mn-lt"/>
              </a:rPr>
              <a:t>Token used for accessing protected features</a:t>
            </a: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ea typeface="+mn-lt"/>
                <a:cs typeface="+mn-lt"/>
              </a:rPr>
              <a:t>Ensures authenticated and safe user access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F67F-6931-6E56-D96B-E07138CF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5006-34A4-9514-0E96-53C01F50B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6194" y="3830590"/>
            <a:ext cx="7685140" cy="1455743"/>
          </a:xfrm>
        </p:spPr>
        <p:txBody>
          <a:bodyPr/>
          <a:lstStyle/>
          <a:p>
            <a:r>
              <a:rPr lang="en-US" sz="6000" dirty="0">
                <a:ea typeface="+mj-lt"/>
                <a:cs typeface="+mj-lt"/>
              </a:rPr>
              <a:t>DASHBOARD</a:t>
            </a:r>
            <a:endParaRPr lang="en-US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EE309-1CF5-57A4-9813-64FA02640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289" y="3429439"/>
            <a:ext cx="8884168" cy="58067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Centralized user dashboard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Displays active challenges and progress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Shows current streak and consistency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Quick access to daily check-ins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Real-time data fetched from backend APIs</a:t>
            </a:r>
            <a:endParaRPr lang="en-US" dirty="0">
              <a:ea typeface="+mn-lt"/>
              <a:cs typeface="+mn-lt"/>
            </a:endParaRPr>
          </a:p>
          <a:p>
            <a:endParaRPr lang="en-US" sz="2400" b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F5CA-3430-315A-99CD-E71D2228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99C66-169A-DF82-303A-064A69EC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Picture 8" descr="dashboard.png">
            <a:extLst>
              <a:ext uri="{FF2B5EF4-FFF2-40B4-BE49-F238E27FC236}">
                <a16:creationId xmlns:a16="http://schemas.microsoft.com/office/drawing/2014/main" id="{ACA1F2D7-58D6-BBB1-6DAF-365E8F9F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24" t="9199" r="14368" b="31454"/>
          <a:stretch>
            <a:fillRect/>
          </a:stretch>
        </p:blipFill>
        <p:spPr>
          <a:xfrm>
            <a:off x="1225318" y="265470"/>
            <a:ext cx="7681293" cy="289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69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04EB3-C534-251C-ACE0-34DCBF64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17CC-39C9-4014-AE18-2E13FF1D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1039301"/>
          </a:xfrm>
        </p:spPr>
        <p:txBody>
          <a:bodyPr>
            <a:normAutofit/>
          </a:bodyPr>
          <a:lstStyle/>
          <a:p>
            <a:r>
              <a:rPr lang="en-US" dirty="0">
                <a:latin typeface="Bookman Old Style"/>
                <a:ea typeface="+mj-lt"/>
                <a:cs typeface="+mj-lt"/>
              </a:rPr>
              <a:t>CHALLENGES</a:t>
            </a:r>
            <a:endParaRPr lang="en-US" dirty="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6E326-B1FF-30E2-88DA-9EA637B9D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56" y="1726391"/>
            <a:ext cx="8866585" cy="4674089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Create and join fitness challenges</a:t>
            </a: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Support for personal and group challenges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Displays challenge goals and duration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Tracks individual participation progress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Encourages competition and engagement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EA351-BF4E-CA1C-6A73-58E162DD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E0B2-9605-E984-902C-3E26EC43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 descr="challenges.png">
            <a:extLst>
              <a:ext uri="{FF2B5EF4-FFF2-40B4-BE49-F238E27FC236}">
                <a16:creationId xmlns:a16="http://schemas.microsoft.com/office/drawing/2014/main" id="{EC1E4F39-4421-359B-7472-0D0E789E66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03" t="-932" r="53436" b="18642"/>
          <a:stretch>
            <a:fillRect/>
          </a:stretch>
        </p:blipFill>
        <p:spPr>
          <a:xfrm>
            <a:off x="6947857" y="-89526"/>
            <a:ext cx="5237501" cy="692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28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37" y="-5200"/>
            <a:ext cx="11481816" cy="158881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Bookman Old Style"/>
                <a:ea typeface="+mj-lt"/>
                <a:cs typeface="+mj-lt"/>
              </a:rPr>
              <a:t>DAILY CHECK-IN &amp; LEADERBOARD</a:t>
            </a:r>
            <a:endParaRPr lang="en-US" sz="480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4206" y="2061075"/>
            <a:ext cx="11824086" cy="522203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Users log daily fitness activities through check-ins</a:t>
            </a:r>
            <a:endParaRPr lang="en-US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Daily check-ins help maintain streak consistency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Prevents multiple check-ins on the same day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Leaderboard ranks users based on score and streak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Encourages healthy competition and motivation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Rankings update dynamically after each activity</a:t>
            </a:r>
          </a:p>
          <a:p>
            <a:endParaRPr lang="en-US" sz="2400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2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580A-CDD4-2EA6-6DAD-873DB2F0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9BFC-18E8-439B-1A85-0C964BCB7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7488" y="4682237"/>
            <a:ext cx="7685140" cy="1455743"/>
          </a:xfrm>
        </p:spPr>
        <p:txBody>
          <a:bodyPr/>
          <a:lstStyle/>
          <a:p>
            <a:r>
              <a:rPr lang="en-US" sz="6000" dirty="0">
                <a:ea typeface="+mj-lt"/>
                <a:cs typeface="+mj-lt"/>
              </a:rPr>
              <a:t>PROFILE &amp; SETTINGS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5BE30-88EC-1C4B-089D-FFB99E5B8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083" y="3709586"/>
            <a:ext cx="7035198" cy="29492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User profile management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View personal fitness progress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Update account and security settings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Manage preferences and user details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Ensures personalized user experience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8DB89-9536-C795-CA5D-EC4C6C0F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FEACA-E086-4C41-3656-75C8E39B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17</a:t>
            </a:fld>
            <a:endParaRPr lang="en-US" dirty="0"/>
          </a:p>
        </p:txBody>
      </p:sp>
      <p:pic>
        <p:nvPicPr>
          <p:cNvPr id="9" name="Picture 8" descr="A screenshot of a calendar&#10;&#10;AI-generated content may be incorrect.">
            <a:extLst>
              <a:ext uri="{FF2B5EF4-FFF2-40B4-BE49-F238E27FC236}">
                <a16:creationId xmlns:a16="http://schemas.microsoft.com/office/drawing/2014/main" id="{A67110A0-14CA-82AF-8A62-EEFF6745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3" t="-2247" r="-3322" b="31011"/>
          <a:stretch>
            <a:fillRect/>
          </a:stretch>
        </p:blipFill>
        <p:spPr>
          <a:xfrm>
            <a:off x="1247730" y="-59501"/>
            <a:ext cx="9463041" cy="355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92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74D96-14CF-A9A6-A578-86014DE8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9634-4503-6D2F-BDD4-D4CE0BA8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FUTURE ENHANCEMENTS</a:t>
            </a: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DE59D7A-9AF7-95A5-F390-DE8FB87041B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001562" y="1278743"/>
            <a:ext cx="5106907" cy="386209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3E4D7-58CA-88A8-B267-75CF1CFBCB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52" y="2252569"/>
            <a:ext cx="7466910" cy="40288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Mobile application for Android and iOS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Wearable device integration for automatic tracking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AI-based personalized fitness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recommendations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Cloud deployment for scalability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Advanced analytics and progress insights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B2C4B-4005-B464-AE77-1E41A11D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18D0-C97C-54FC-6F27-46C0F6EA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31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53" y="2676"/>
            <a:ext cx="8430768" cy="184202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6681B-5E1B-BD2B-6960-3B46EFE83A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553" y="2184937"/>
            <a:ext cx="12197635" cy="40429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300">
                <a:ea typeface="+mn-lt"/>
                <a:cs typeface="+mn-lt"/>
              </a:rPr>
              <a:t>Gamified approach improves fitness consistency</a:t>
            </a:r>
            <a:endParaRPr lang="en-US" sz="3300"/>
          </a:p>
          <a:p>
            <a:pPr marL="285750" indent="-285750">
              <a:buFont typeface="Arial"/>
              <a:buChar char="•"/>
            </a:pPr>
            <a:r>
              <a:rPr lang="en-US" sz="3300">
                <a:ea typeface="+mn-lt"/>
                <a:cs typeface="+mn-lt"/>
              </a:rPr>
              <a:t>Combines challenges, streaks, and competition</a:t>
            </a:r>
            <a:endParaRPr lang="en-US" sz="3300"/>
          </a:p>
          <a:p>
            <a:pPr marL="285750" indent="-285750">
              <a:buFont typeface="Arial"/>
              <a:buChar char="•"/>
            </a:pPr>
            <a:r>
              <a:rPr lang="en-US" sz="3300">
                <a:ea typeface="+mn-lt"/>
                <a:cs typeface="+mn-lt"/>
              </a:rPr>
              <a:t>Built using modern full-stack technologies</a:t>
            </a:r>
            <a:endParaRPr lang="en-US" sz="3300"/>
          </a:p>
          <a:p>
            <a:pPr marL="285750" indent="-285750">
              <a:buFont typeface="Arial"/>
              <a:buChar char="•"/>
            </a:pPr>
            <a:r>
              <a:rPr lang="en-US" sz="3300">
                <a:ea typeface="+mn-lt"/>
                <a:cs typeface="+mn-lt"/>
              </a:rPr>
              <a:t>Secure, scalable, and modular architecture</a:t>
            </a:r>
            <a:endParaRPr lang="en-US" sz="3300"/>
          </a:p>
          <a:p>
            <a:pPr marL="285750" indent="-285750">
              <a:buFont typeface="Arial"/>
              <a:buChar char="•"/>
            </a:pPr>
            <a:r>
              <a:rPr lang="en-US" sz="3300">
                <a:ea typeface="+mn-lt"/>
                <a:cs typeface="+mn-lt"/>
              </a:rPr>
              <a:t>Can be extended into a production-ready platform</a:t>
            </a:r>
            <a:endParaRPr lang="en-US" sz="3300"/>
          </a:p>
          <a:p>
            <a:endParaRPr lang="en-US" sz="3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7696-CC61-C5A5-6C0C-BC554FB6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70B-54FF-401A-804E-64B53FFEC9A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9FFD-93B6-D3DC-72EF-DBAF2803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 descr="Conclusion and Moving Forward: Empowering Ex-Offender Reintegration ...">
            <a:extLst>
              <a:ext uri="{FF2B5EF4-FFF2-40B4-BE49-F238E27FC236}">
                <a16:creationId xmlns:a16="http://schemas.microsoft.com/office/drawing/2014/main" id="{C263554F-7FA6-8F5C-E175-4A4360D13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547" t="-3825" r="32601" b="41058"/>
          <a:stretch>
            <a:fillRect/>
          </a:stretch>
        </p:blipFill>
        <p:spPr>
          <a:xfrm>
            <a:off x="6987396" y="2628"/>
            <a:ext cx="4568720" cy="185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F41A-A2E0-ED25-57D4-8AAE0EA7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8724323-B3FE-0D88-474E-5BDE97D3E4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262046" y="862853"/>
            <a:ext cx="7679706" cy="513580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06F71-7053-ADB9-181C-68C78A6FA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70B-54FF-401A-804E-64B53FFEC9A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7190E-789F-2E43-8755-13E19583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50729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E88E53-1348-4048-BE11-4BFB7428CF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C70EC8-9E20-414A-9F27-409BF84387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9038C17-BDB3-4721-A558-8B6A63F5753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590</Words>
  <Application>Microsoft Office PowerPoint</Application>
  <PresentationFormat>Widescreen</PresentationFormat>
  <Paragraphs>119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OasisVTI</vt:lpstr>
      <vt:lpstr>FitQuest</vt:lpstr>
      <vt:lpstr>PROBLEM STATEMENT</vt:lpstr>
      <vt:lpstr>SOLUTION: FITQUEST</vt:lpstr>
      <vt:lpstr>OBJECTIVES OF THE PROJECT</vt:lpstr>
      <vt:lpstr>TECH STACK USED</vt:lpstr>
      <vt:lpstr>SYSTEM ARCHITECTURE</vt:lpstr>
      <vt:lpstr>Backend Architecture Layers</vt:lpstr>
      <vt:lpstr>CORE FEATURES</vt:lpstr>
      <vt:lpstr>DATABASE DESIGN</vt:lpstr>
      <vt:lpstr>PowerPoint Presentation</vt:lpstr>
      <vt:lpstr>BUSINESS  LOGIC  ENGINE</vt:lpstr>
      <vt:lpstr>SECURITY  IMPLEMENTATION</vt:lpstr>
      <vt:lpstr>PowerPoint Presentation</vt:lpstr>
      <vt:lpstr>DASHBOARD</vt:lpstr>
      <vt:lpstr>CHALLENGES</vt:lpstr>
      <vt:lpstr>DAILY CHECK-IN &amp; LEADERBOARD</vt:lpstr>
      <vt:lpstr>PROFILE &amp; SETTINGS</vt:lpstr>
      <vt:lpstr>FUTURE ENHANCEMENTS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281</cp:revision>
  <dcterms:created xsi:type="dcterms:W3CDTF">2026-02-02T18:56:48Z</dcterms:created>
  <dcterms:modified xsi:type="dcterms:W3CDTF">2026-02-02T19:56:37Z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